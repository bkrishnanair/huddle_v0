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Overpas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verpass-regular.fntdata"/><Relationship Id="rId14" Type="http://schemas.openxmlformats.org/officeDocument/2006/relationships/slide" Target="slides/slide10.xml"/><Relationship Id="rId17" Type="http://schemas.openxmlformats.org/officeDocument/2006/relationships/font" Target="fonts/Overpass-italic.fntdata"/><Relationship Id="rId16" Type="http://schemas.openxmlformats.org/officeDocument/2006/relationships/font" Target="fonts/Overpas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Overpas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hyperlink" Target="http://huddlemap.li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837724" y="1409343"/>
            <a:ext cx="3442692" cy="449818"/>
          </a:xfrm>
          <a:prstGeom prst="roundRect">
            <a:avLst>
              <a:gd fmla="val 17881" name="adj"/>
            </a:avLst>
          </a:prstGeom>
          <a:solidFill>
            <a:srgbClr val="4C0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981313" y="1481138"/>
            <a:ext cx="3155513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Overpass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UMD AGENTIC AI CHALLENGE · 2026</a:t>
            </a:r>
            <a:endParaRPr b="0" i="0" sz="150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837724" y="1954887"/>
            <a:ext cx="6723102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Huddle Serendipity Agent</a:t>
            </a:r>
            <a:endParaRPr b="0" i="0" sz="440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837724" y="3017877"/>
            <a:ext cx="7468553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0"/>
              <a:buFont typeface="Overpass"/>
              <a:buNone/>
            </a:pPr>
            <a:r>
              <a:rPr b="1" i="0" lang="en-US" sz="61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Solving the Campus Event Crisis</a:t>
            </a:r>
            <a:endParaRPr b="0" i="0" sz="6100" u="none" cap="none" strike="noStrike"/>
          </a:p>
        </p:txBody>
      </p:sp>
      <p:sp>
        <p:nvSpPr>
          <p:cNvPr id="61" name="Google Shape;61;p13"/>
          <p:cNvSpPr/>
          <p:nvPr/>
        </p:nvSpPr>
        <p:spPr>
          <a:xfrm>
            <a:off x="837724" y="5319951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Autonomous event intelligence that connects the right student to the right event — before it's too late.</a:t>
            </a:r>
            <a:endParaRPr b="0" i="0" sz="1850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837724" y="6355199"/>
            <a:ext cx="2277428" cy="465058"/>
          </a:xfrm>
          <a:prstGeom prst="roundRect">
            <a:avLst>
              <a:gd fmla="val 17295" name="adj"/>
            </a:avLst>
          </a:prstGeom>
          <a:noFill/>
          <a:ln cap="flat" cmpd="sng" w="9525">
            <a:solidFill>
              <a:srgbClr val="F203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988933" y="6434614"/>
            <a:ext cx="1975009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20374"/>
              </a:buClr>
              <a:buSzPts val="1500"/>
              <a:buFont typeface="Overpass"/>
              <a:buNone/>
            </a:pPr>
            <a:r>
              <a:rPr b="0" i="0" lang="en-US" sz="1500" u="none" cap="none" strike="noStrike">
                <a:solidFill>
                  <a:srgbClr val="F20374"/>
                </a:solidFill>
                <a:latin typeface="Overpass"/>
                <a:ea typeface="Overpass"/>
                <a:cs typeface="Overpass"/>
                <a:sym typeface="Overpass"/>
              </a:rPr>
              <a:t>TEAM: HUDDLE AI OPS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837724" y="1083350"/>
            <a:ext cx="1577102" cy="449818"/>
          </a:xfrm>
          <a:prstGeom prst="roundRect">
            <a:avLst>
              <a:gd fmla="val 17881" name="adj"/>
            </a:avLst>
          </a:prstGeom>
          <a:solidFill>
            <a:srgbClr val="4C0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981313" y="1155144"/>
            <a:ext cx="1289923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Overpass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THE PROBLEM</a:t>
            </a:r>
            <a:endParaRPr b="0" i="0" sz="150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837724" y="1628894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Great Events. Nobody Shows Up.</a:t>
            </a:r>
            <a:endParaRPr b="0" i="0" sz="44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837724" y="3395901"/>
            <a:ext cx="3614618" cy="2138482"/>
          </a:xfrm>
          <a:prstGeom prst="roundRect">
            <a:avLst>
              <a:gd fmla="val 4701" name="adj"/>
            </a:avLst>
          </a:prstGeom>
          <a:solidFill>
            <a:srgbClr val="7E023C"/>
          </a:solidFill>
          <a:ln cap="flat" cmpd="sng" w="9525">
            <a:solidFill>
              <a:srgbClr val="971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1084659" y="364283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40–60%</a:t>
            </a:r>
            <a:endParaRPr b="0" i="0" sz="220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1084659" y="4138374"/>
            <a:ext cx="312074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No-show rate </a:t>
            </a:r>
            <a:r>
              <a:rPr b="0" i="1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Validated by Dingman Center</a:t>
            </a:r>
            <a:endParaRPr b="0" i="0" sz="185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4691658" y="3395901"/>
            <a:ext cx="3614618" cy="2138482"/>
          </a:xfrm>
          <a:prstGeom prst="roundRect">
            <a:avLst>
              <a:gd fmla="val 4701" name="adj"/>
            </a:avLst>
          </a:prstGeom>
          <a:solidFill>
            <a:srgbClr val="7E023C"/>
          </a:solidFill>
          <a:ln cap="flat" cmpd="sng" w="9525">
            <a:solidFill>
              <a:srgbClr val="971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4938593" y="364283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32%</a:t>
            </a:r>
            <a:endParaRPr b="0" i="0" sz="2200" u="none" cap="none" strike="noStrike"/>
          </a:p>
        </p:txBody>
      </p:sp>
      <p:sp>
        <p:nvSpPr>
          <p:cNvPr id="78" name="Google Shape;78;p14"/>
          <p:cNvSpPr/>
          <p:nvPr/>
        </p:nvSpPr>
        <p:spPr>
          <a:xfrm>
            <a:off x="4938593" y="4138374"/>
            <a:ext cx="3120747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Students miss events they never knew about </a:t>
            </a:r>
            <a:r>
              <a:rPr b="0" i="1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NSSE 2023</a:t>
            </a:r>
            <a:endParaRPr b="0" i="0" sz="185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837724" y="5773698"/>
            <a:ext cx="7468553" cy="1372433"/>
          </a:xfrm>
          <a:prstGeom prst="roundRect">
            <a:avLst>
              <a:gd fmla="val 7326" name="adj"/>
            </a:avLst>
          </a:prstGeom>
          <a:solidFill>
            <a:srgbClr val="7E023C"/>
          </a:solidFill>
          <a:ln cap="flat" cmpd="sng" w="9525">
            <a:solidFill>
              <a:srgbClr val="971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1084659" y="602063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Reactive Tools</a:t>
            </a:r>
            <a:endParaRPr b="0" i="0" sz="2200" u="none" cap="none" strike="noStrike"/>
          </a:p>
        </p:txBody>
      </p:sp>
      <p:sp>
        <p:nvSpPr>
          <p:cNvPr id="81" name="Google Shape;81;p14"/>
          <p:cNvSpPr/>
          <p:nvPr/>
        </p:nvSpPr>
        <p:spPr>
          <a:xfrm>
            <a:off x="1084659" y="6516172"/>
            <a:ext cx="6974681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Chats, Luma, Eventbrite — destinations, not solutions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798552" y="634246"/>
            <a:ext cx="1502569" cy="421838"/>
          </a:xfrm>
          <a:prstGeom prst="roundRect">
            <a:avLst>
              <a:gd fmla="val 18173" name="adj"/>
            </a:avLst>
          </a:prstGeom>
          <a:solidFill>
            <a:srgbClr val="4C0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935355" y="702588"/>
            <a:ext cx="1228963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Overpass"/>
              <a:buNone/>
            </a:pPr>
            <a:r>
              <a:rPr b="0" i="0" lang="en-US" sz="14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THE PROBLEM</a:t>
            </a:r>
            <a:endParaRPr b="0" i="0" sz="140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798552" y="1143000"/>
            <a:ext cx="8822888" cy="671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verpas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This Is an Institutional ROI Problem</a:t>
            </a:r>
            <a:endParaRPr b="0" i="0" sz="4200" u="none" cap="none" strike="noStrike"/>
          </a:p>
        </p:txBody>
      </p:sp>
      <p:pic>
        <p:nvPicPr>
          <p:cNvPr descr="preencoded.png"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552" y="2384703"/>
            <a:ext cx="8276868" cy="496609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9639538" y="2937153"/>
            <a:ext cx="2994541" cy="335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verpas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Attendance = Retention</a:t>
            </a:r>
            <a:endParaRPr b="0" i="0" sz="2100" u="none" cap="none" strike="noStrike"/>
          </a:p>
        </p:txBody>
      </p:sp>
      <p:sp>
        <p:nvSpPr>
          <p:cNvPr id="92" name="Google Shape;92;p15"/>
          <p:cNvSpPr/>
          <p:nvPr/>
        </p:nvSpPr>
        <p:spPr>
          <a:xfrm>
            <a:off x="9639538" y="3489960"/>
            <a:ext cx="4199930" cy="106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Overpass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Students who attend </a:t>
            </a:r>
            <a:r>
              <a:rPr b="1" i="0" lang="en-US" sz="17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one campus event</a:t>
            </a:r>
            <a:r>
              <a:rPr b="0" i="0" lang="en-US" sz="17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are significantly more likely to persist and graduate.</a:t>
            </a:r>
            <a:endParaRPr b="0" i="0" sz="1750" u="none" cap="none" strike="noStrike"/>
          </a:p>
        </p:txBody>
      </p:sp>
      <p:sp>
        <p:nvSpPr>
          <p:cNvPr id="93" name="Google Shape;93;p15"/>
          <p:cNvSpPr/>
          <p:nvPr/>
        </p:nvSpPr>
        <p:spPr>
          <a:xfrm>
            <a:off x="9639538" y="4917647"/>
            <a:ext cx="4199930" cy="36076"/>
          </a:xfrm>
          <a:prstGeom prst="rect">
            <a:avLst/>
          </a:prstGeom>
          <a:solidFill>
            <a:srgbClr val="E5E0D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9639538" y="5198269"/>
            <a:ext cx="2684145" cy="335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verpas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The Stakes</a:t>
            </a:r>
            <a:endParaRPr b="0" i="0" sz="210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9639538" y="5751076"/>
            <a:ext cx="4199930" cy="106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Overpass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Every no-show is a missed connection — and a potential </a:t>
            </a:r>
            <a:r>
              <a:rPr b="1" i="0" lang="en-US" sz="17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tuition revenue loss</a:t>
            </a:r>
            <a:r>
              <a:rPr b="0" i="0" lang="en-US" sz="17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for the institution.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798552" y="642104"/>
            <a:ext cx="1543883" cy="421838"/>
          </a:xfrm>
          <a:prstGeom prst="roundRect">
            <a:avLst>
              <a:gd fmla="val 18173" name="adj"/>
            </a:avLst>
          </a:prstGeom>
          <a:solidFill>
            <a:srgbClr val="4C0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935355" y="710446"/>
            <a:ext cx="1270278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Overpass"/>
              <a:buNone/>
            </a:pPr>
            <a:r>
              <a:rPr b="0" i="0" lang="en-US" sz="14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THE SOLUTION</a:t>
            </a:r>
            <a:endParaRPr b="0" i="0" sz="1400" u="none" cap="none" strike="noStrike"/>
          </a:p>
        </p:txBody>
      </p:sp>
      <p:sp>
        <p:nvSpPr>
          <p:cNvPr id="103" name="Google Shape;103;p16"/>
          <p:cNvSpPr/>
          <p:nvPr/>
        </p:nvSpPr>
        <p:spPr>
          <a:xfrm>
            <a:off x="798552" y="1150858"/>
            <a:ext cx="6211133" cy="671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verpas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Perceive → Reason → Act</a:t>
            </a:r>
            <a:endParaRPr b="0" i="0" sz="4200" u="none" cap="none" strike="noStrike"/>
          </a:p>
        </p:txBody>
      </p:sp>
      <p:sp>
        <p:nvSpPr>
          <p:cNvPr id="104" name="Google Shape;104;p16"/>
          <p:cNvSpPr/>
          <p:nvPr/>
        </p:nvSpPr>
        <p:spPr>
          <a:xfrm>
            <a:off x="798552" y="2148007"/>
            <a:ext cx="13033296" cy="356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Overpass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 three-agent autonomous pipeline — zero human intervention required.</a:t>
            </a:r>
            <a:endParaRPr b="0" i="0" sz="1750" u="none" cap="none" strike="noStrike"/>
          </a:p>
        </p:txBody>
      </p:sp>
      <p:pic>
        <p:nvPicPr>
          <p:cNvPr descr="preencoded.png"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2207" y="2748915"/>
            <a:ext cx="11705987" cy="423755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/>
          <p:nvPr/>
        </p:nvSpPr>
        <p:spPr>
          <a:xfrm>
            <a:off x="2321558" y="5962875"/>
            <a:ext cx="2759752" cy="344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Overpass"/>
              <a:buNone/>
            </a:pPr>
            <a:r>
              <a:rPr b="1" i="0" lang="en-US" sz="215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Act</a:t>
            </a:r>
            <a:endParaRPr b="0" i="0" sz="2150" u="none" cap="none" strike="noStrike"/>
          </a:p>
        </p:txBody>
      </p:sp>
      <p:sp>
        <p:nvSpPr>
          <p:cNvPr id="107" name="Google Shape;107;p16"/>
          <p:cNvSpPr/>
          <p:nvPr/>
        </p:nvSpPr>
        <p:spPr>
          <a:xfrm>
            <a:off x="2321558" y="4685634"/>
            <a:ext cx="2759752" cy="344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Overpass"/>
              <a:buNone/>
            </a:pPr>
            <a:r>
              <a:rPr b="1" i="0" lang="en-US" sz="215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Reason</a:t>
            </a:r>
            <a:endParaRPr b="0" i="0" sz="2150" u="none" cap="none" strike="noStrike"/>
          </a:p>
        </p:txBody>
      </p:sp>
      <p:sp>
        <p:nvSpPr>
          <p:cNvPr id="108" name="Google Shape;108;p16"/>
          <p:cNvSpPr/>
          <p:nvPr/>
        </p:nvSpPr>
        <p:spPr>
          <a:xfrm>
            <a:off x="2321558" y="3395361"/>
            <a:ext cx="2759752" cy="344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Overpass"/>
              <a:buNone/>
            </a:pPr>
            <a:r>
              <a:rPr b="1" i="0" lang="en-US" sz="215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Perceive</a:t>
            </a:r>
            <a:endParaRPr b="0" i="0" sz="2150" u="none" cap="none" strike="noStrike"/>
          </a:p>
        </p:txBody>
      </p:sp>
      <p:sp>
        <p:nvSpPr>
          <p:cNvPr id="109" name="Google Shape;109;p16"/>
          <p:cNvSpPr/>
          <p:nvPr/>
        </p:nvSpPr>
        <p:spPr>
          <a:xfrm>
            <a:off x="798552" y="7231023"/>
            <a:ext cx="13033296" cy="356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Overpass"/>
              <a:buNone/>
            </a:pPr>
            <a:r>
              <a:rPr b="0" i="0" lang="en-US" sz="17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Each agent passes structured output to the next stage — a fully autonomous loop from detection to delivery.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837724" y="1600438"/>
            <a:ext cx="2317552" cy="449818"/>
          </a:xfrm>
          <a:prstGeom prst="roundRect">
            <a:avLst>
              <a:gd fmla="val 17881" name="adj"/>
            </a:avLst>
          </a:prstGeom>
          <a:solidFill>
            <a:srgbClr val="4C0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981313" y="1672233"/>
            <a:ext cx="2030373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Overpass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AGENT ARCHITECTURE</a:t>
            </a:r>
            <a:endParaRPr b="0" i="0" sz="1500" u="none" cap="none" strike="noStrike"/>
          </a:p>
        </p:txBody>
      </p:sp>
      <p:sp>
        <p:nvSpPr>
          <p:cNvPr id="117" name="Google Shape;117;p17"/>
          <p:cNvSpPr/>
          <p:nvPr/>
        </p:nvSpPr>
        <p:spPr>
          <a:xfrm>
            <a:off x="837724" y="2293458"/>
            <a:ext cx="66933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Three Specialized Agents</a:t>
            </a:r>
            <a:endParaRPr b="0" i="0" sz="4400" u="none" cap="none" strike="noStrike"/>
          </a:p>
        </p:txBody>
      </p:sp>
      <p:sp>
        <p:nvSpPr>
          <p:cNvPr id="118" name="Google Shape;118;p17"/>
          <p:cNvSpPr/>
          <p:nvPr/>
        </p:nvSpPr>
        <p:spPr>
          <a:xfrm>
            <a:off x="8819227" y="3884920"/>
            <a:ext cx="414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Agent 2: Candidate Scorer</a:t>
            </a:r>
            <a:endParaRPr b="0" i="0" sz="2200" u="none" cap="none" strike="noStrike"/>
          </a:p>
        </p:txBody>
      </p:sp>
      <p:sp>
        <p:nvSpPr>
          <p:cNvPr id="119" name="Google Shape;119;p17"/>
          <p:cNvSpPr/>
          <p:nvPr/>
        </p:nvSpPr>
        <p:spPr>
          <a:xfrm>
            <a:off x="8819227" y="4359603"/>
            <a:ext cx="49803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1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Reason</a:t>
            </a: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— Computes weighted match scores using Gemini semantic understanding.</a:t>
            </a:r>
            <a:endParaRPr b="0" i="0" sz="1850" u="none" cap="none" strike="noStrike"/>
          </a:p>
        </p:txBody>
      </p:sp>
      <p:sp>
        <p:nvSpPr>
          <p:cNvPr id="120" name="Google Shape;120;p17"/>
          <p:cNvSpPr/>
          <p:nvPr/>
        </p:nvSpPr>
        <p:spPr>
          <a:xfrm>
            <a:off x="8819230" y="5456141"/>
            <a:ext cx="49803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Agent 3: Notification Dispatcher</a:t>
            </a:r>
            <a:endParaRPr b="0" i="0" sz="2200" u="none" cap="none" strike="noStrike"/>
          </a:p>
        </p:txBody>
      </p:sp>
      <p:sp>
        <p:nvSpPr>
          <p:cNvPr id="121" name="Google Shape;121;p17"/>
          <p:cNvSpPr/>
          <p:nvPr/>
        </p:nvSpPr>
        <p:spPr>
          <a:xfrm>
            <a:off x="8819230" y="5916685"/>
            <a:ext cx="49803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1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Act</a:t>
            </a: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— Dispatches personalized, timely interventions to the right students.</a:t>
            </a:r>
            <a:endParaRPr b="0" i="0" sz="1850" u="none" cap="none" strike="noStrike"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350" y="3312475"/>
            <a:ext cx="7420150" cy="405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/>
          <p:nvPr/>
        </p:nvSpPr>
        <p:spPr>
          <a:xfrm>
            <a:off x="8819225" y="2313700"/>
            <a:ext cx="340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Agent 1: Risk Monitor</a:t>
            </a:r>
            <a:endParaRPr b="0" i="0" sz="2200" u="none" cap="none" strike="noStrike"/>
          </a:p>
        </p:txBody>
      </p:sp>
      <p:sp>
        <p:nvSpPr>
          <p:cNvPr id="124" name="Google Shape;124;p17"/>
          <p:cNvSpPr/>
          <p:nvPr/>
        </p:nvSpPr>
        <p:spPr>
          <a:xfrm>
            <a:off x="8819225" y="2788383"/>
            <a:ext cx="49803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1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Perceive</a:t>
            </a: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— Detects at-risk events via cron and webhook triggers.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837724" y="1623298"/>
            <a:ext cx="2015728" cy="449818"/>
          </a:xfrm>
          <a:prstGeom prst="roundRect">
            <a:avLst>
              <a:gd fmla="val 17881" name="adj"/>
            </a:avLst>
          </a:prstGeom>
          <a:solidFill>
            <a:srgbClr val="4C0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981313" y="1695093"/>
            <a:ext cx="1728549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Overpass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AGENT REASONING</a:t>
            </a:r>
            <a:endParaRPr b="0" i="0" sz="1500" u="none" cap="none" strike="noStrike"/>
          </a:p>
        </p:txBody>
      </p:sp>
      <p:sp>
        <p:nvSpPr>
          <p:cNvPr id="132" name="Google Shape;132;p18"/>
          <p:cNvSpPr/>
          <p:nvPr/>
        </p:nvSpPr>
        <p:spPr>
          <a:xfrm>
            <a:off x="837724" y="2168843"/>
            <a:ext cx="9922788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Advanced Reasoning, Not Basic Rules</a:t>
            </a:r>
            <a:endParaRPr b="0" i="0" sz="4400" u="none" cap="none" strike="noStrike"/>
          </a:p>
        </p:txBody>
      </p:sp>
      <p:sp>
        <p:nvSpPr>
          <p:cNvPr id="133" name="Google Shape;133;p18"/>
          <p:cNvSpPr/>
          <p:nvPr/>
        </p:nvSpPr>
        <p:spPr>
          <a:xfrm>
            <a:off x="837724" y="347114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The Scoring Formula</a:t>
            </a:r>
            <a:endParaRPr b="0" i="0" sz="2200" u="none" cap="none" strike="noStrike"/>
          </a:p>
        </p:txBody>
      </p:sp>
      <p:sp>
        <p:nvSpPr>
          <p:cNvPr id="134" name="Google Shape;134;p18"/>
          <p:cNvSpPr/>
          <p:nvPr/>
        </p:nvSpPr>
        <p:spPr>
          <a:xfrm>
            <a:off x="837724" y="4125992"/>
            <a:ext cx="6185535" cy="1195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b="0" i="0" sz="2100" u="none" cap="none" strike="noStrike"/>
          </a:p>
        </p:txBody>
      </p:sp>
      <p:pic>
        <p:nvPicPr>
          <p:cNvPr descr="preencoded.pn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450" y="4126000"/>
            <a:ext cx="7371925" cy="1425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837787" y="6163976"/>
            <a:ext cx="61854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Every candidate is ranked across four weighted dimensions — not a simple yes/no filter.</a:t>
            </a:r>
            <a:endParaRPr b="0" i="0" sz="1850" u="none" cap="none" strike="noStrike"/>
          </a:p>
        </p:txBody>
      </p:sp>
      <p:sp>
        <p:nvSpPr>
          <p:cNvPr id="137" name="Google Shape;137;p18"/>
          <p:cNvSpPr/>
          <p:nvPr/>
        </p:nvSpPr>
        <p:spPr>
          <a:xfrm>
            <a:off x="7614761" y="3501033"/>
            <a:ext cx="2973110" cy="2662952"/>
          </a:xfrm>
          <a:prstGeom prst="roundRect">
            <a:avLst>
              <a:gd fmla="val 5494" name="adj"/>
            </a:avLst>
          </a:prstGeom>
          <a:solidFill>
            <a:srgbClr val="252222">
              <a:alpha val="94901"/>
            </a:srgbClr>
          </a:solidFill>
          <a:ln cap="flat" cmpd="sng" w="30475">
            <a:solidFill>
              <a:srgbClr val="971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7584281" y="3501033"/>
            <a:ext cx="121920" cy="2662952"/>
          </a:xfrm>
          <a:prstGeom prst="roundRect">
            <a:avLst>
              <a:gd fmla="val 82464" name="adj"/>
            </a:avLst>
          </a:prstGeom>
          <a:solidFill>
            <a:srgbClr val="F203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7975997" y="3770828"/>
            <a:ext cx="2342078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Semantic Matching</a:t>
            </a:r>
            <a:endParaRPr b="0" i="0" sz="2200" u="none" cap="none" strike="noStrike"/>
          </a:p>
        </p:txBody>
      </p:sp>
      <p:sp>
        <p:nvSpPr>
          <p:cNvPr id="140" name="Google Shape;140;p18"/>
          <p:cNvSpPr/>
          <p:nvPr/>
        </p:nvSpPr>
        <p:spPr>
          <a:xfrm>
            <a:off x="7975997" y="4714042"/>
            <a:ext cx="2342078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Gemini API maps "wellness" → "yoga on the quad"</a:t>
            </a:r>
            <a:endParaRPr b="0" i="0" sz="1850" u="none" cap="none" strike="noStrike"/>
          </a:p>
        </p:txBody>
      </p:sp>
      <p:sp>
        <p:nvSpPr>
          <p:cNvPr id="141" name="Google Shape;141;p18"/>
          <p:cNvSpPr/>
          <p:nvPr/>
        </p:nvSpPr>
        <p:spPr>
          <a:xfrm>
            <a:off x="10827187" y="3501033"/>
            <a:ext cx="2973110" cy="2662952"/>
          </a:xfrm>
          <a:prstGeom prst="roundRect">
            <a:avLst>
              <a:gd fmla="val 5494" name="adj"/>
            </a:avLst>
          </a:prstGeom>
          <a:solidFill>
            <a:srgbClr val="252222">
              <a:alpha val="94901"/>
            </a:srgbClr>
          </a:solidFill>
          <a:ln cap="flat" cmpd="sng" w="30475">
            <a:solidFill>
              <a:srgbClr val="971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10796707" y="3501033"/>
            <a:ext cx="121920" cy="2662952"/>
          </a:xfrm>
          <a:prstGeom prst="roundRect">
            <a:avLst>
              <a:gd fmla="val 82464" name="adj"/>
            </a:avLst>
          </a:prstGeom>
          <a:solidFill>
            <a:srgbClr val="F203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11188422" y="3770828"/>
            <a:ext cx="234207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O(1) Geo Lookup</a:t>
            </a:r>
            <a:endParaRPr b="0" i="0" sz="2200" u="none" cap="none" strike="noStrike"/>
          </a:p>
        </p:txBody>
      </p:sp>
      <p:sp>
        <p:nvSpPr>
          <p:cNvPr id="144" name="Google Shape;144;p18"/>
          <p:cNvSpPr/>
          <p:nvPr/>
        </p:nvSpPr>
        <p:spPr>
          <a:xfrm>
            <a:off x="11188422" y="4362093"/>
            <a:ext cx="2342078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GeoFire-common Set-based proximity and friend-list queries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6311027" y="658535"/>
            <a:ext cx="2120503" cy="440412"/>
          </a:xfrm>
          <a:prstGeom prst="roundRect">
            <a:avLst>
              <a:gd fmla="val 17978" name="adj"/>
            </a:avLst>
          </a:prstGeom>
          <a:solidFill>
            <a:srgbClr val="4C0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6452354" y="729139"/>
            <a:ext cx="1837849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Overpass"/>
              <a:buNone/>
            </a:pPr>
            <a:r>
              <a:rPr b="0" i="0" lang="en-US" sz="14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PRODUCTION READY</a:t>
            </a:r>
            <a:endParaRPr b="0" i="0" sz="1450" u="none" cap="none" strike="noStrike"/>
          </a:p>
        </p:txBody>
      </p:sp>
      <p:sp>
        <p:nvSpPr>
          <p:cNvPr id="153" name="Google Shape;153;p19"/>
          <p:cNvSpPr/>
          <p:nvPr/>
        </p:nvSpPr>
        <p:spPr>
          <a:xfrm>
            <a:off x="6311027" y="1191697"/>
            <a:ext cx="5784532" cy="693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Overpass"/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Live Stack. Real Scale.</a:t>
            </a:r>
            <a:endParaRPr b="0" i="0" sz="4350" u="none" cap="none" strike="noStrike"/>
          </a:p>
        </p:txBody>
      </p:sp>
      <p:sp>
        <p:nvSpPr>
          <p:cNvPr id="154" name="Google Shape;154;p19"/>
          <p:cNvSpPr/>
          <p:nvPr/>
        </p:nvSpPr>
        <p:spPr>
          <a:xfrm>
            <a:off x="6311027" y="2232660"/>
            <a:ext cx="7494746" cy="5338286"/>
          </a:xfrm>
          <a:prstGeom prst="roundRect">
            <a:avLst>
              <a:gd fmla="val 1854" name="adj"/>
            </a:avLst>
          </a:prstGeom>
          <a:solidFill>
            <a:srgbClr val="7E023C"/>
          </a:solidFill>
          <a:ln cap="flat" cmpd="sng" w="9525">
            <a:solidFill>
              <a:srgbClr val="971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6318647" y="2240280"/>
            <a:ext cx="7479506" cy="1330762"/>
          </a:xfrm>
          <a:prstGeom prst="roundRect">
            <a:avLst>
              <a:gd fmla="val 7437" name="adj"/>
            </a:avLst>
          </a:prstGeom>
          <a:solidFill>
            <a:srgbClr val="7E0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6554272" y="2475905"/>
            <a:ext cx="2772132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50"/>
              <a:buFont typeface="Overpass"/>
              <a:buNone/>
            </a:pPr>
            <a:r>
              <a:rPr b="1" i="0" lang="en-US" sz="21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Next.js + Vercel</a:t>
            </a:r>
            <a:endParaRPr b="0" i="0" sz="2150" u="none" cap="none" strike="noStrike"/>
          </a:p>
        </p:txBody>
      </p:sp>
      <p:sp>
        <p:nvSpPr>
          <p:cNvPr id="157" name="Google Shape;157;p19"/>
          <p:cNvSpPr/>
          <p:nvPr/>
        </p:nvSpPr>
        <p:spPr>
          <a:xfrm>
            <a:off x="6554272" y="2961442"/>
            <a:ext cx="7008257" cy="373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75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Production deployment</a:t>
            </a:r>
            <a:endParaRPr b="0" i="0" sz="1850" u="none" cap="none" strike="noStrike"/>
          </a:p>
        </p:txBody>
      </p:sp>
      <p:sp>
        <p:nvSpPr>
          <p:cNvPr id="158" name="Google Shape;158;p19"/>
          <p:cNvSpPr/>
          <p:nvPr/>
        </p:nvSpPr>
        <p:spPr>
          <a:xfrm>
            <a:off x="6318647" y="3571042"/>
            <a:ext cx="7479506" cy="1330762"/>
          </a:xfrm>
          <a:prstGeom prst="rect">
            <a:avLst/>
          </a:prstGeom>
          <a:solidFill>
            <a:srgbClr val="7E0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6318647" y="3571042"/>
            <a:ext cx="7479506" cy="30480"/>
          </a:xfrm>
          <a:prstGeom prst="roundRect">
            <a:avLst>
              <a:gd fmla="val 324702" name="adj"/>
            </a:avLst>
          </a:prstGeom>
          <a:solidFill>
            <a:srgbClr val="971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6554272" y="3806666"/>
            <a:ext cx="2772132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50"/>
              <a:buFont typeface="Overpass"/>
              <a:buNone/>
            </a:pPr>
            <a:r>
              <a:rPr b="1" i="0" lang="en-US" sz="21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Firebase</a:t>
            </a:r>
            <a:endParaRPr b="0" i="0" sz="2150" u="none" cap="none" strike="noStrike"/>
          </a:p>
        </p:txBody>
      </p:sp>
      <p:sp>
        <p:nvSpPr>
          <p:cNvPr id="161" name="Google Shape;161;p19"/>
          <p:cNvSpPr/>
          <p:nvPr/>
        </p:nvSpPr>
        <p:spPr>
          <a:xfrm>
            <a:off x="6554272" y="4292203"/>
            <a:ext cx="7008257" cy="373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75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Real-time data layer</a:t>
            </a:r>
            <a:endParaRPr b="0" i="0" sz="1850" u="none" cap="none" strike="noStrike"/>
          </a:p>
        </p:txBody>
      </p:sp>
      <p:sp>
        <p:nvSpPr>
          <p:cNvPr id="162" name="Google Shape;162;p19"/>
          <p:cNvSpPr/>
          <p:nvPr/>
        </p:nvSpPr>
        <p:spPr>
          <a:xfrm>
            <a:off x="6318647" y="4901803"/>
            <a:ext cx="7479506" cy="1330762"/>
          </a:xfrm>
          <a:prstGeom prst="rect">
            <a:avLst/>
          </a:prstGeom>
          <a:solidFill>
            <a:srgbClr val="7E0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6318647" y="4901803"/>
            <a:ext cx="7479506" cy="30480"/>
          </a:xfrm>
          <a:prstGeom prst="roundRect">
            <a:avLst>
              <a:gd fmla="val 324702" name="adj"/>
            </a:avLst>
          </a:prstGeom>
          <a:solidFill>
            <a:srgbClr val="971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6554272" y="5137428"/>
            <a:ext cx="2772132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50"/>
              <a:buFont typeface="Overpass"/>
              <a:buNone/>
            </a:pPr>
            <a:r>
              <a:rPr b="1" i="0" lang="en-US" sz="21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Gemini 2.5 Flash</a:t>
            </a:r>
            <a:endParaRPr b="0" i="0" sz="2150" u="none" cap="none" strike="noStrike"/>
          </a:p>
        </p:txBody>
      </p:sp>
      <p:sp>
        <p:nvSpPr>
          <p:cNvPr id="165" name="Google Shape;165;p19"/>
          <p:cNvSpPr/>
          <p:nvPr/>
        </p:nvSpPr>
        <p:spPr>
          <a:xfrm>
            <a:off x="6554272" y="5622965"/>
            <a:ext cx="7008257" cy="373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75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Lowest-cost Google model</a:t>
            </a:r>
            <a:endParaRPr b="0" i="0" sz="1850" u="none" cap="none" strike="noStrike"/>
          </a:p>
        </p:txBody>
      </p:sp>
      <p:sp>
        <p:nvSpPr>
          <p:cNvPr id="166" name="Google Shape;166;p19"/>
          <p:cNvSpPr/>
          <p:nvPr/>
        </p:nvSpPr>
        <p:spPr>
          <a:xfrm>
            <a:off x="6318647" y="6232565"/>
            <a:ext cx="7479506" cy="1330762"/>
          </a:xfrm>
          <a:prstGeom prst="rect">
            <a:avLst/>
          </a:prstGeom>
          <a:solidFill>
            <a:srgbClr val="7E0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6318647" y="6232565"/>
            <a:ext cx="7479506" cy="30480"/>
          </a:xfrm>
          <a:prstGeom prst="roundRect">
            <a:avLst>
              <a:gd fmla="val 324702" name="adj"/>
            </a:avLst>
          </a:prstGeom>
          <a:solidFill>
            <a:srgbClr val="971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6554272" y="6468189"/>
            <a:ext cx="2772132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50"/>
              <a:buFont typeface="Overpass"/>
              <a:buNone/>
            </a:pPr>
            <a:r>
              <a:rPr b="1" i="0" lang="en-US" sz="21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GeoFire-common</a:t>
            </a:r>
            <a:endParaRPr b="0" i="0" sz="2150" u="none" cap="none" strike="noStrike"/>
          </a:p>
        </p:txBody>
      </p:sp>
      <p:sp>
        <p:nvSpPr>
          <p:cNvPr id="169" name="Google Shape;169;p19"/>
          <p:cNvSpPr/>
          <p:nvPr/>
        </p:nvSpPr>
        <p:spPr>
          <a:xfrm>
            <a:off x="6554272" y="6953726"/>
            <a:ext cx="7008257" cy="373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75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O(1) proximity engine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/>
          <p:nvPr/>
        </p:nvSpPr>
        <p:spPr>
          <a:xfrm>
            <a:off x="837724" y="2075378"/>
            <a:ext cx="1302187" cy="449818"/>
          </a:xfrm>
          <a:prstGeom prst="roundRect">
            <a:avLst>
              <a:gd fmla="val 17881" name="adj"/>
            </a:avLst>
          </a:prstGeom>
          <a:solidFill>
            <a:srgbClr val="4C0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981313" y="2147173"/>
            <a:ext cx="1015008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Overpass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COST &amp; ROI</a:t>
            </a:r>
            <a:endParaRPr b="0" i="0" sz="1500" u="none" cap="none" strike="noStrike"/>
          </a:p>
        </p:txBody>
      </p:sp>
      <p:sp>
        <p:nvSpPr>
          <p:cNvPr id="177" name="Google Shape;177;p20"/>
          <p:cNvSpPr/>
          <p:nvPr/>
        </p:nvSpPr>
        <p:spPr>
          <a:xfrm>
            <a:off x="837724" y="2620923"/>
            <a:ext cx="8316039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Pennies a Day. Millions in Value.</a:t>
            </a:r>
            <a:endParaRPr b="0" i="0" sz="4400" u="none" cap="none" strike="noStrike"/>
          </a:p>
        </p:txBody>
      </p:sp>
      <p:sp>
        <p:nvSpPr>
          <p:cNvPr id="178" name="Google Shape;178;p20"/>
          <p:cNvSpPr/>
          <p:nvPr/>
        </p:nvSpPr>
        <p:spPr>
          <a:xfrm>
            <a:off x="837724" y="3803571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6200"/>
              <a:buFont typeface="Overpass"/>
              <a:buNone/>
            </a:pPr>
            <a:r>
              <a:rPr b="1" i="0" lang="en-US" sz="6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$3.50</a:t>
            </a:r>
            <a:endParaRPr b="0" i="0" sz="6200" u="none" cap="none" strike="noStrike"/>
          </a:p>
        </p:txBody>
      </p:sp>
      <p:sp>
        <p:nvSpPr>
          <p:cNvPr id="179" name="Google Shape;179;p20"/>
          <p:cNvSpPr/>
          <p:nvPr/>
        </p:nvSpPr>
        <p:spPr>
          <a:xfrm>
            <a:off x="1352669" y="4892516"/>
            <a:ext cx="308883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Monthly Operating Cost</a:t>
            </a:r>
            <a:endParaRPr b="0" i="0" sz="2200" u="none" cap="none" strike="noStrike"/>
          </a:p>
        </p:txBody>
      </p:sp>
      <p:sp>
        <p:nvSpPr>
          <p:cNvPr id="180" name="Google Shape;180;p20"/>
          <p:cNvSpPr/>
          <p:nvPr/>
        </p:nvSpPr>
        <p:spPr>
          <a:xfrm>
            <a:off x="837724" y="5388054"/>
            <a:ext cx="4118848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For 1,000 weekly active users at UMD scale</a:t>
            </a:r>
            <a:endParaRPr b="0" i="0" sz="1850" u="none" cap="none" strike="noStrike"/>
          </a:p>
        </p:txBody>
      </p:sp>
      <p:sp>
        <p:nvSpPr>
          <p:cNvPr id="181" name="Google Shape;181;p20"/>
          <p:cNvSpPr/>
          <p:nvPr/>
        </p:nvSpPr>
        <p:spPr>
          <a:xfrm>
            <a:off x="5255776" y="3803571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6200"/>
              <a:buFont typeface="Overpass"/>
              <a:buNone/>
            </a:pPr>
            <a:r>
              <a:rPr b="1" i="0" lang="en-US" sz="6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$4.8M</a:t>
            </a:r>
            <a:endParaRPr b="0" i="0" sz="6200" u="none" cap="none" strike="noStrike"/>
          </a:p>
        </p:txBody>
      </p:sp>
      <p:sp>
        <p:nvSpPr>
          <p:cNvPr id="182" name="Google Shape;182;p20"/>
          <p:cNvSpPr/>
          <p:nvPr/>
        </p:nvSpPr>
        <p:spPr>
          <a:xfrm>
            <a:off x="5579031" y="4892516"/>
            <a:ext cx="3472220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Retention Value Preserved</a:t>
            </a:r>
            <a:endParaRPr b="0" i="0" sz="2200" u="none" cap="none" strike="noStrike"/>
          </a:p>
        </p:txBody>
      </p:sp>
      <p:sp>
        <p:nvSpPr>
          <p:cNvPr id="183" name="Google Shape;183;p20"/>
          <p:cNvSpPr/>
          <p:nvPr/>
        </p:nvSpPr>
        <p:spPr>
          <a:xfrm>
            <a:off x="5255776" y="5388054"/>
            <a:ext cx="4118848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With just a 1% improvement in student retention</a:t>
            </a:r>
            <a:endParaRPr b="0" i="0" sz="1850" u="none" cap="none" strike="noStrike"/>
          </a:p>
        </p:txBody>
      </p:sp>
      <p:sp>
        <p:nvSpPr>
          <p:cNvPr id="184" name="Google Shape;184;p20"/>
          <p:cNvSpPr/>
          <p:nvPr/>
        </p:nvSpPr>
        <p:spPr>
          <a:xfrm>
            <a:off x="9673828" y="3803571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6200"/>
              <a:buFont typeface="Overpass"/>
              <a:buNone/>
            </a:pPr>
            <a:r>
              <a:rPr b="1" i="0" lang="en-US" sz="6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1K</a:t>
            </a:r>
            <a:endParaRPr b="0" i="0" sz="6200" u="none" cap="none" strike="noStrike"/>
          </a:p>
        </p:txBody>
      </p:sp>
      <p:sp>
        <p:nvSpPr>
          <p:cNvPr id="185" name="Google Shape;185;p20"/>
          <p:cNvSpPr/>
          <p:nvPr/>
        </p:nvSpPr>
        <p:spPr>
          <a:xfrm>
            <a:off x="10325100" y="489251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Weekly Active Users</a:t>
            </a:r>
            <a:endParaRPr b="0" i="0" sz="2200" u="none" cap="none" strike="noStrike"/>
          </a:p>
        </p:txBody>
      </p:sp>
      <p:sp>
        <p:nvSpPr>
          <p:cNvPr id="186" name="Google Shape;186;p20"/>
          <p:cNvSpPr/>
          <p:nvPr/>
        </p:nvSpPr>
        <p:spPr>
          <a:xfrm>
            <a:off x="9673828" y="5388054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Target UMD deployment scale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/>
          <p:nvPr/>
        </p:nvSpPr>
        <p:spPr>
          <a:xfrm>
            <a:off x="1364099" y="532209"/>
            <a:ext cx="1408152" cy="316706"/>
          </a:xfrm>
          <a:prstGeom prst="roundRect">
            <a:avLst>
              <a:gd fmla="val 19444" name="adj"/>
            </a:avLst>
          </a:prstGeom>
          <a:solidFill>
            <a:srgbClr val="4C0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1473994" y="587097"/>
            <a:ext cx="1188363" cy="206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Overpass"/>
              <a:buNone/>
            </a:pPr>
            <a:r>
              <a:rPr b="0" i="0" lang="en-US" sz="11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SAFETY &amp; ETHICS</a:t>
            </a:r>
            <a:endParaRPr b="0" i="0" sz="1150" u="none" cap="none" strike="noStrike"/>
          </a:p>
        </p:txBody>
      </p:sp>
      <p:sp>
        <p:nvSpPr>
          <p:cNvPr id="194" name="Google Shape;194;p21"/>
          <p:cNvSpPr/>
          <p:nvPr/>
        </p:nvSpPr>
        <p:spPr>
          <a:xfrm>
            <a:off x="1364099" y="904994"/>
            <a:ext cx="4312325" cy="538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50"/>
              <a:buFont typeface="Overpass"/>
              <a:buNone/>
            </a:pPr>
            <a:r>
              <a:rPr b="1" i="0" lang="en-US" sz="335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Built-In Guardrails</a:t>
            </a:r>
            <a:endParaRPr b="0" i="0" sz="3350" u="none" cap="none" strike="noStrike"/>
          </a:p>
        </p:txBody>
      </p:sp>
      <p:pic>
        <p:nvPicPr>
          <p:cNvPr descr="preencoded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099" y="1812131"/>
            <a:ext cx="5727502" cy="5727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4099" y="1812131"/>
            <a:ext cx="5727502" cy="5727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>
            <a:off x="7546181" y="3664029"/>
            <a:ext cx="2252543" cy="26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Overpass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Responsible by Design</a:t>
            </a:r>
            <a:endParaRPr b="0" i="0" sz="1650" u="none" cap="none" strike="noStrike"/>
          </a:p>
        </p:txBody>
      </p:sp>
      <p:sp>
        <p:nvSpPr>
          <p:cNvPr id="198" name="Google Shape;198;p21"/>
          <p:cNvSpPr/>
          <p:nvPr/>
        </p:nvSpPr>
        <p:spPr>
          <a:xfrm>
            <a:off x="7546181" y="4073723"/>
            <a:ext cx="5727502" cy="517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Overpass"/>
              <a:buNone/>
            </a:pPr>
            <a:r>
              <a:rPr b="0" i="0" lang="en-US" sz="14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Every agent operates within strict ethical boundaries — protecting students while maximizing engagement.</a:t>
            </a:r>
            <a:endParaRPr b="0" i="0" sz="1400" u="none" cap="none" strike="noStrike"/>
          </a:p>
        </p:txBody>
      </p:sp>
      <p:sp>
        <p:nvSpPr>
          <p:cNvPr id="199" name="Google Shape;199;p21"/>
          <p:cNvSpPr/>
          <p:nvPr/>
        </p:nvSpPr>
        <p:spPr>
          <a:xfrm>
            <a:off x="7546181" y="4748927"/>
            <a:ext cx="5727502" cy="921187"/>
          </a:xfrm>
          <a:prstGeom prst="roundRect">
            <a:avLst>
              <a:gd fmla="val 8356" name="adj"/>
            </a:avLst>
          </a:prstGeom>
          <a:solidFill>
            <a:srgbClr val="4C0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29418" y="4985147"/>
            <a:ext cx="229076" cy="18323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8141732" y="4934903"/>
            <a:ext cx="4948714" cy="517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verpas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Five risk categories addressed from day one, not added as an afterthought.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/>
          <p:nvPr/>
        </p:nvSpPr>
        <p:spPr>
          <a:xfrm>
            <a:off x="6324124" y="925949"/>
            <a:ext cx="1158121" cy="449818"/>
          </a:xfrm>
          <a:prstGeom prst="roundRect">
            <a:avLst>
              <a:gd fmla="val 17881" name="adj"/>
            </a:avLst>
          </a:prstGeom>
          <a:solidFill>
            <a:srgbClr val="4C0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6467713" y="997744"/>
            <a:ext cx="870942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Overpass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LIVE NOW</a:t>
            </a:r>
            <a:endParaRPr b="0" i="0" sz="1500" u="none" cap="none" strike="noStrike"/>
          </a:p>
        </p:txBody>
      </p:sp>
      <p:sp>
        <p:nvSpPr>
          <p:cNvPr id="210" name="Google Shape;210;p22"/>
          <p:cNvSpPr/>
          <p:nvPr/>
        </p:nvSpPr>
        <p:spPr>
          <a:xfrm>
            <a:off x="6324124" y="1471493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We Don't Just Find Events. We Make Them Happen.</a:t>
            </a:r>
            <a:endParaRPr b="0" i="0" sz="4400" u="none" cap="none" strike="noStrike"/>
          </a:p>
        </p:txBody>
      </p:sp>
      <p:sp>
        <p:nvSpPr>
          <p:cNvPr id="211" name="Google Shape;211;p22"/>
          <p:cNvSpPr/>
          <p:nvPr/>
        </p:nvSpPr>
        <p:spPr>
          <a:xfrm>
            <a:off x="6324124" y="32385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The Huddle Serendipity Agent is live in production — solving the no-show problem at scale.</a:t>
            </a:r>
            <a:endParaRPr b="0" i="0" sz="1850" u="none" cap="none" strike="noStrike"/>
          </a:p>
        </p:txBody>
      </p:sp>
      <p:sp>
        <p:nvSpPr>
          <p:cNvPr id="212" name="Google Shape;212;p22"/>
          <p:cNvSpPr/>
          <p:nvPr/>
        </p:nvSpPr>
        <p:spPr>
          <a:xfrm>
            <a:off x="6324124" y="4273748"/>
            <a:ext cx="3614618" cy="1395293"/>
          </a:xfrm>
          <a:prstGeom prst="roundRect">
            <a:avLst>
              <a:gd fmla="val 7206" name="adj"/>
            </a:avLst>
          </a:prstGeom>
          <a:solidFill>
            <a:srgbClr val="7E023C"/>
          </a:solidFill>
          <a:ln cap="flat" cmpd="sng" w="9525">
            <a:solidFill>
              <a:srgbClr val="971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6571059" y="4520684"/>
            <a:ext cx="2816185" cy="374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🌐</a:t>
            </a: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Live Demo</a:t>
            </a:r>
            <a:endParaRPr b="0" i="0" sz="2200" u="none" cap="none" strike="noStrike"/>
          </a:p>
        </p:txBody>
      </p:sp>
      <p:sp>
        <p:nvSpPr>
          <p:cNvPr id="214" name="Google Shape;214;p22"/>
          <p:cNvSpPr/>
          <p:nvPr/>
        </p:nvSpPr>
        <p:spPr>
          <a:xfrm>
            <a:off x="6571059" y="5039082"/>
            <a:ext cx="312074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F20374"/>
              </a:buClr>
              <a:buSzPts val="1850"/>
              <a:buFont typeface="Overpass"/>
              <a:buNone/>
            </a:pPr>
            <a:r>
              <a:rPr b="0" i="0" lang="en-US" sz="1850" u="sng" cap="none" strike="noStrike">
                <a:solidFill>
                  <a:schemeClr val="hlink"/>
                </a:solidFill>
                <a:latin typeface="Overpass"/>
                <a:ea typeface="Overpass"/>
                <a:cs typeface="Overpass"/>
                <a:sym typeface="Overpass"/>
                <a:hlinkClick r:id="rId4"/>
              </a:rPr>
              <a:t>huddlemap.live</a:t>
            </a:r>
            <a:endParaRPr b="0" i="0" sz="1850" u="none" cap="none" strike="noStrike"/>
          </a:p>
        </p:txBody>
      </p:sp>
      <p:sp>
        <p:nvSpPr>
          <p:cNvPr id="215" name="Google Shape;215;p22"/>
          <p:cNvSpPr/>
          <p:nvPr/>
        </p:nvSpPr>
        <p:spPr>
          <a:xfrm>
            <a:off x="10178058" y="4273748"/>
            <a:ext cx="3614618" cy="1395293"/>
          </a:xfrm>
          <a:prstGeom prst="roundRect">
            <a:avLst>
              <a:gd fmla="val 7206" name="adj"/>
            </a:avLst>
          </a:prstGeom>
          <a:solidFill>
            <a:srgbClr val="7E023C"/>
          </a:solidFill>
          <a:ln cap="flat" cmpd="sng" w="9525">
            <a:solidFill>
              <a:srgbClr val="971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10424993" y="4520684"/>
            <a:ext cx="2816185" cy="374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🏗️</a:t>
            </a: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Stack</a:t>
            </a:r>
            <a:endParaRPr b="0" i="0" sz="2200" u="none" cap="none" strike="noStrike"/>
          </a:p>
        </p:txBody>
      </p:sp>
      <p:sp>
        <p:nvSpPr>
          <p:cNvPr id="217" name="Google Shape;217;p22"/>
          <p:cNvSpPr/>
          <p:nvPr/>
        </p:nvSpPr>
        <p:spPr>
          <a:xfrm>
            <a:off x="10424993" y="5039082"/>
            <a:ext cx="312074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Vercel · Next.js · Firebase</a:t>
            </a:r>
            <a:endParaRPr b="0" i="0" sz="1850" u="none" cap="none" strike="noStrike"/>
          </a:p>
        </p:txBody>
      </p:sp>
      <p:sp>
        <p:nvSpPr>
          <p:cNvPr id="218" name="Google Shape;218;p22"/>
          <p:cNvSpPr/>
          <p:nvPr/>
        </p:nvSpPr>
        <p:spPr>
          <a:xfrm>
            <a:off x="6324124" y="5908358"/>
            <a:ext cx="7468553" cy="1395293"/>
          </a:xfrm>
          <a:prstGeom prst="roundRect">
            <a:avLst>
              <a:gd fmla="val 7206" name="adj"/>
            </a:avLst>
          </a:prstGeom>
          <a:solidFill>
            <a:srgbClr val="7E023C"/>
          </a:solidFill>
          <a:ln cap="flat" cmpd="sng" w="9525">
            <a:solidFill>
              <a:srgbClr val="971B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6571059" y="6155293"/>
            <a:ext cx="2816185" cy="374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verpass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🤝</a:t>
            </a:r>
            <a:r>
              <a:rPr b="1" i="0" lang="en-US" sz="220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Team</a:t>
            </a:r>
            <a:endParaRPr b="0" i="0" sz="2200" u="none" cap="none" strike="noStrike"/>
          </a:p>
        </p:txBody>
      </p:sp>
      <p:sp>
        <p:nvSpPr>
          <p:cNvPr id="220" name="Google Shape;220;p22"/>
          <p:cNvSpPr/>
          <p:nvPr/>
        </p:nvSpPr>
        <p:spPr>
          <a:xfrm>
            <a:off x="6571059" y="6673691"/>
            <a:ext cx="6974681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b="0" i="0" lang="en-US" sz="1850" u="none" cap="none" strike="noStrik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Huddle AI Ops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